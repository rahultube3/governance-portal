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source: Austin Davis, PROD pull (Sep 30, 2026). 232 publishers on the Ingestion API incl. Streams and Events; 102 replays submitted at least 14 days after the requested time frame (guaranteed past the 14-day retention period); 26 events marked as large-payload requiring Claim Check; 511 events marked for Data Lake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640080"/>
          </a:xfrm>
          <a:prstGeom prst="rect">
            <a:avLst/>
          </a:prstGeom>
          <a:noFill/>
          <a:ln/>
        </p:spPr>
        <p:txBody>
          <a:bodyPr wrap="square" lIns="0" tIns="0" rIns="0" bIns="0" rtlCol="0" anchor="ctr"/>
          <a:lstStyle/>
          <a:p>
            <a:pPr indent="0" marL="0">
              <a:buNone/>
            </a:pPr>
            <a:r>
              <a:rPr lang="en-US" sz="3600" b="1" dirty="0">
                <a:solidFill>
                  <a:srgbClr val="1E5B2B"/>
                </a:solidFill>
                <a:latin typeface="Cambria" pitchFamily="34" charset="0"/>
                <a:ea typeface="Cambria" pitchFamily="34" charset="-122"/>
                <a:cs typeface="Cambria" pitchFamily="34" charset="-120"/>
              </a:rPr>
              <a:t>Business Value</a:t>
            </a:r>
            <a:endParaRPr lang="en-US" sz="3600" dirty="0"/>
          </a:p>
        </p:txBody>
      </p:sp>
      <p:sp>
        <p:nvSpPr>
          <p:cNvPr id="3" name="Text 1"/>
          <p:cNvSpPr txBox="1"/>
          <p:nvPr/>
        </p:nvSpPr>
        <p:spPr>
          <a:xfrm>
            <a:off x="548640" y="1005840"/>
            <a:ext cx="8229600" cy="320040"/>
          </a:xfrm>
          <a:prstGeom prst="rect">
            <a:avLst/>
          </a:prstGeom>
          <a:noFill/>
          <a:ln/>
        </p:spPr>
        <p:txBody>
          <a:bodyPr wrap="square" lIns="0" tIns="0" rIns="0" bIns="0" rtlCol="0" anchor="ctr"/>
          <a:lstStyle/>
          <a:p>
            <a:pPr indent="0" marL="0">
              <a:buNone/>
            </a:pPr>
            <a:r>
              <a:rPr lang="en-US" sz="1500" dirty="0">
                <a:solidFill>
                  <a:srgbClr val="5F6B62"/>
                </a:solidFill>
                <a:latin typeface="Calibri" pitchFamily="34" charset="0"/>
                <a:ea typeface="Calibri" pitchFamily="34" charset="-122"/>
                <a:cs typeface="Calibri" pitchFamily="34" charset="-120"/>
              </a:rPr>
              <a:t>Why the recommended path, and a BU Common team to own it</a:t>
            </a:r>
            <a:endParaRPr lang="en-US" sz="1500" dirty="0"/>
          </a:p>
        </p:txBody>
      </p:sp>
      <p:sp>
        <p:nvSpPr>
          <p:cNvPr id="4" name="Shape 2"/>
          <p:cNvSpPr/>
          <p:nvPr/>
        </p:nvSpPr>
        <p:spPr>
          <a:xfrm>
            <a:off x="548640" y="1600200"/>
            <a:ext cx="2567178" cy="1188720"/>
          </a:xfrm>
          <a:prstGeom prst="roundRect">
            <a:avLst>
              <a:gd name="adj" fmla="val 6154"/>
            </a:avLst>
          </a:prstGeom>
          <a:solidFill>
            <a:srgbClr val="EAF2EB"/>
          </a:solidFill>
          <a:ln w="12700">
            <a:solidFill>
              <a:srgbClr val="EAF2EB"/>
            </a:solidFill>
            <a:prstDash val="solid"/>
          </a:ln>
        </p:spPr>
      </p:sp>
      <p:sp>
        <p:nvSpPr>
          <p:cNvPr id="5" name="Text 3"/>
          <p:cNvSpPr txBox="1"/>
          <p:nvPr/>
        </p:nvSpPr>
        <p:spPr>
          <a:xfrm>
            <a:off x="777240" y="1737360"/>
            <a:ext cx="2109978" cy="548640"/>
          </a:xfrm>
          <a:prstGeom prst="rect">
            <a:avLst/>
          </a:prstGeom>
          <a:noFill/>
          <a:ln/>
        </p:spPr>
        <p:txBody>
          <a:bodyPr wrap="square" lIns="0" tIns="0" rIns="0" bIns="0" rtlCol="0" anchor="ctr"/>
          <a:lstStyle/>
          <a:p>
            <a:pPr indent="0" marL="0">
              <a:buNone/>
            </a:pPr>
            <a:r>
              <a:rPr lang="en-US" sz="3600" b="1" dirty="0">
                <a:solidFill>
                  <a:srgbClr val="1E5B2B"/>
                </a:solidFill>
                <a:latin typeface="Cambria" pitchFamily="34" charset="0"/>
                <a:ea typeface="Cambria" pitchFamily="34" charset="-122"/>
                <a:cs typeface="Cambria" pitchFamily="34" charset="-120"/>
              </a:rPr>
              <a:t>232</a:t>
            </a:r>
            <a:endParaRPr lang="en-US" sz="3600" dirty="0"/>
          </a:p>
        </p:txBody>
      </p:sp>
      <p:sp>
        <p:nvSpPr>
          <p:cNvPr id="6" name="Text 4"/>
          <p:cNvSpPr txBox="1"/>
          <p:nvPr/>
        </p:nvSpPr>
        <p:spPr>
          <a:xfrm>
            <a:off x="777240" y="2313432"/>
            <a:ext cx="2109978" cy="384048"/>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publishers on the Ingestion API (Streams + Events)</a:t>
            </a:r>
            <a:endParaRPr lang="en-US" sz="1150" dirty="0"/>
          </a:p>
        </p:txBody>
      </p:sp>
      <p:sp>
        <p:nvSpPr>
          <p:cNvPr id="7" name="Shape 5"/>
          <p:cNvSpPr/>
          <p:nvPr/>
        </p:nvSpPr>
        <p:spPr>
          <a:xfrm>
            <a:off x="3390138" y="1600200"/>
            <a:ext cx="2567178" cy="1188720"/>
          </a:xfrm>
          <a:prstGeom prst="roundRect">
            <a:avLst>
              <a:gd name="adj" fmla="val 6154"/>
            </a:avLst>
          </a:prstGeom>
          <a:solidFill>
            <a:srgbClr val="EAF2EB"/>
          </a:solidFill>
          <a:ln w="12700">
            <a:solidFill>
              <a:srgbClr val="EAF2EB"/>
            </a:solidFill>
            <a:prstDash val="solid"/>
          </a:ln>
        </p:spPr>
      </p:sp>
      <p:sp>
        <p:nvSpPr>
          <p:cNvPr id="8" name="Text 6"/>
          <p:cNvSpPr txBox="1"/>
          <p:nvPr/>
        </p:nvSpPr>
        <p:spPr>
          <a:xfrm>
            <a:off x="3618738" y="1737360"/>
            <a:ext cx="2109978" cy="548640"/>
          </a:xfrm>
          <a:prstGeom prst="rect">
            <a:avLst/>
          </a:prstGeom>
          <a:noFill/>
          <a:ln/>
        </p:spPr>
        <p:txBody>
          <a:bodyPr wrap="square" lIns="0" tIns="0" rIns="0" bIns="0" rtlCol="0" anchor="ctr"/>
          <a:lstStyle/>
          <a:p>
            <a:pPr indent="0" marL="0">
              <a:buNone/>
            </a:pPr>
            <a:r>
              <a:rPr lang="en-US" sz="3600" b="1" dirty="0">
                <a:solidFill>
                  <a:srgbClr val="1E5B2B"/>
                </a:solidFill>
                <a:latin typeface="Cambria" pitchFamily="34" charset="0"/>
                <a:ea typeface="Cambria" pitchFamily="34" charset="-122"/>
                <a:cs typeface="Cambria" pitchFamily="34" charset="-120"/>
              </a:rPr>
              <a:t>511</a:t>
            </a:r>
            <a:endParaRPr lang="en-US" sz="3600" dirty="0"/>
          </a:p>
        </p:txBody>
      </p:sp>
      <p:sp>
        <p:nvSpPr>
          <p:cNvPr id="9" name="Text 7"/>
          <p:cNvSpPr txBox="1"/>
          <p:nvPr/>
        </p:nvSpPr>
        <p:spPr>
          <a:xfrm>
            <a:off x="3618738" y="2313432"/>
            <a:ext cx="2109978" cy="384048"/>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events marked for Data Lake integration</a:t>
            </a:r>
            <a:endParaRPr lang="en-US" sz="1150" dirty="0"/>
          </a:p>
        </p:txBody>
      </p:sp>
      <p:sp>
        <p:nvSpPr>
          <p:cNvPr id="10" name="Shape 8"/>
          <p:cNvSpPr/>
          <p:nvPr/>
        </p:nvSpPr>
        <p:spPr>
          <a:xfrm>
            <a:off x="6231636" y="1600200"/>
            <a:ext cx="2567178" cy="1188720"/>
          </a:xfrm>
          <a:prstGeom prst="roundRect">
            <a:avLst>
              <a:gd name="adj" fmla="val 6154"/>
            </a:avLst>
          </a:prstGeom>
          <a:solidFill>
            <a:srgbClr val="EAF2EB"/>
          </a:solidFill>
          <a:ln w="12700">
            <a:solidFill>
              <a:srgbClr val="EAF2EB"/>
            </a:solidFill>
            <a:prstDash val="solid"/>
          </a:ln>
        </p:spPr>
      </p:sp>
      <p:sp>
        <p:nvSpPr>
          <p:cNvPr id="11" name="Text 9"/>
          <p:cNvSpPr txBox="1"/>
          <p:nvPr/>
        </p:nvSpPr>
        <p:spPr>
          <a:xfrm>
            <a:off x="6460236" y="1737360"/>
            <a:ext cx="2109978" cy="548640"/>
          </a:xfrm>
          <a:prstGeom prst="rect">
            <a:avLst/>
          </a:prstGeom>
          <a:noFill/>
          <a:ln/>
        </p:spPr>
        <p:txBody>
          <a:bodyPr wrap="square" lIns="0" tIns="0" rIns="0" bIns="0" rtlCol="0" anchor="ctr"/>
          <a:lstStyle/>
          <a:p>
            <a:pPr indent="0" marL="0">
              <a:buNone/>
            </a:pPr>
            <a:r>
              <a:rPr lang="en-US" sz="3600" b="1" dirty="0">
                <a:solidFill>
                  <a:srgbClr val="1E5B2B"/>
                </a:solidFill>
                <a:latin typeface="Cambria" pitchFamily="34" charset="0"/>
                <a:ea typeface="Cambria" pitchFamily="34" charset="-122"/>
                <a:cs typeface="Cambria" pitchFamily="34" charset="-120"/>
              </a:rPr>
              <a:t>102</a:t>
            </a:r>
            <a:endParaRPr lang="en-US" sz="3600" dirty="0"/>
          </a:p>
        </p:txBody>
      </p:sp>
      <p:sp>
        <p:nvSpPr>
          <p:cNvPr id="12" name="Text 10"/>
          <p:cNvSpPr txBox="1"/>
          <p:nvPr/>
        </p:nvSpPr>
        <p:spPr>
          <a:xfrm>
            <a:off x="6460236" y="2313432"/>
            <a:ext cx="2109978" cy="384048"/>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replays served from S3 beyond the 14-day retention window</a:t>
            </a:r>
            <a:endParaRPr lang="en-US" sz="1150" dirty="0"/>
          </a:p>
        </p:txBody>
      </p:sp>
      <p:sp>
        <p:nvSpPr>
          <p:cNvPr id="13" name="Shape 11"/>
          <p:cNvSpPr/>
          <p:nvPr/>
        </p:nvSpPr>
        <p:spPr>
          <a:xfrm>
            <a:off x="9073134" y="1600200"/>
            <a:ext cx="2567178" cy="1188720"/>
          </a:xfrm>
          <a:prstGeom prst="roundRect">
            <a:avLst>
              <a:gd name="adj" fmla="val 6154"/>
            </a:avLst>
          </a:prstGeom>
          <a:solidFill>
            <a:srgbClr val="EAF2EB"/>
          </a:solidFill>
          <a:ln w="12700">
            <a:solidFill>
              <a:srgbClr val="EAF2EB"/>
            </a:solidFill>
            <a:prstDash val="solid"/>
          </a:ln>
        </p:spPr>
      </p:sp>
      <p:sp>
        <p:nvSpPr>
          <p:cNvPr id="14" name="Text 12"/>
          <p:cNvSpPr txBox="1"/>
          <p:nvPr/>
        </p:nvSpPr>
        <p:spPr>
          <a:xfrm>
            <a:off x="9301734" y="1737360"/>
            <a:ext cx="2109978" cy="548640"/>
          </a:xfrm>
          <a:prstGeom prst="rect">
            <a:avLst/>
          </a:prstGeom>
          <a:noFill/>
          <a:ln/>
        </p:spPr>
        <p:txBody>
          <a:bodyPr wrap="square" lIns="0" tIns="0" rIns="0" bIns="0" rtlCol="0" anchor="ctr"/>
          <a:lstStyle/>
          <a:p>
            <a:pPr indent="0" marL="0">
              <a:buNone/>
            </a:pPr>
            <a:r>
              <a:rPr lang="en-US" sz="3600" b="1" dirty="0">
                <a:solidFill>
                  <a:srgbClr val="1E5B2B"/>
                </a:solidFill>
                <a:latin typeface="Cambria" pitchFamily="34" charset="0"/>
                <a:ea typeface="Cambria" pitchFamily="34" charset="-122"/>
                <a:cs typeface="Cambria" pitchFamily="34" charset="-120"/>
              </a:rPr>
              <a:t>26</a:t>
            </a:r>
            <a:endParaRPr lang="en-US" sz="3600" dirty="0"/>
          </a:p>
        </p:txBody>
      </p:sp>
      <p:sp>
        <p:nvSpPr>
          <p:cNvPr id="15" name="Text 13"/>
          <p:cNvSpPr txBox="1"/>
          <p:nvPr/>
        </p:nvSpPr>
        <p:spPr>
          <a:xfrm>
            <a:off x="9301734" y="2313432"/>
            <a:ext cx="2109978" cy="384048"/>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large-payload events relying on Claim Check</a:t>
            </a:r>
            <a:endParaRPr lang="en-US" sz="1150" dirty="0"/>
          </a:p>
        </p:txBody>
      </p:sp>
      <p:sp>
        <p:nvSpPr>
          <p:cNvPr id="16" name="Text 14"/>
          <p:cNvSpPr txBox="1"/>
          <p:nvPr/>
        </p:nvSpPr>
        <p:spPr>
          <a:xfrm>
            <a:off x="548640" y="2834640"/>
            <a:ext cx="3657600" cy="228600"/>
          </a:xfrm>
          <a:prstGeom prst="rect">
            <a:avLst/>
          </a:prstGeom>
          <a:noFill/>
          <a:ln/>
        </p:spPr>
        <p:txBody>
          <a:bodyPr wrap="square" lIns="0" tIns="0" rIns="0" bIns="0" rtlCol="0" anchor="ctr"/>
          <a:lstStyle/>
          <a:p>
            <a:pPr indent="0" marL="0">
              <a:buNone/>
            </a:pPr>
            <a:r>
              <a:rPr lang="en-US" sz="950" i="1" dirty="0">
                <a:solidFill>
                  <a:srgbClr val="5F6B62"/>
                </a:solidFill>
                <a:latin typeface="Calibri" pitchFamily="34" charset="0"/>
                <a:ea typeface="Calibri" pitchFamily="34" charset="-122"/>
                <a:cs typeface="Calibri" pitchFamily="34" charset="-120"/>
              </a:rPr>
              <a:t>PROD metrics, Sep 2026</a:t>
            </a:r>
            <a:endParaRPr lang="en-US" sz="950" dirty="0"/>
          </a:p>
        </p:txBody>
      </p:sp>
      <p:sp>
        <p:nvSpPr>
          <p:cNvPr id="17" name="Text 15"/>
          <p:cNvSpPr txBox="1"/>
          <p:nvPr/>
        </p:nvSpPr>
        <p:spPr>
          <a:xfrm>
            <a:off x="548640" y="3154680"/>
            <a:ext cx="5362956" cy="274320"/>
          </a:xfrm>
          <a:prstGeom prst="rect">
            <a:avLst/>
          </a:prstGeom>
          <a:noFill/>
          <a:ln/>
        </p:spPr>
        <p:txBody>
          <a:bodyPr wrap="square" lIns="0" tIns="0" rIns="0" bIns="0" rtlCol="0" anchor="ctr"/>
          <a:lstStyle/>
          <a:p>
            <a:pPr indent="0" marL="0">
              <a:buNone/>
            </a:pPr>
            <a:r>
              <a:rPr lang="en-US" sz="1100" b="1" spc="200" kern="0" dirty="0">
                <a:solidFill>
                  <a:srgbClr val="1E5B2B"/>
                </a:solidFill>
                <a:latin typeface="Calibri" pitchFamily="34" charset="0"/>
                <a:ea typeface="Calibri" pitchFamily="34" charset="-122"/>
                <a:cs typeface="Calibri" pitchFamily="34" charset="-120"/>
              </a:rPr>
              <a:t>PLATFORM IMPACT</a:t>
            </a:r>
            <a:endParaRPr lang="en-US" sz="1100" dirty="0"/>
          </a:p>
        </p:txBody>
      </p:sp>
      <p:sp>
        <p:nvSpPr>
          <p:cNvPr id="18" name="Shape 16"/>
          <p:cNvSpPr/>
          <p:nvPr/>
        </p:nvSpPr>
        <p:spPr>
          <a:xfrm>
            <a:off x="548640" y="3557016"/>
            <a:ext cx="274320" cy="274320"/>
          </a:xfrm>
          <a:prstGeom prst="ellipse">
            <a:avLst/>
          </a:prstGeom>
          <a:solidFill>
            <a:srgbClr val="1E5B2B"/>
          </a:solidFill>
          <a:ln w="12700">
            <a:solidFill>
              <a:srgbClr val="1E5B2B"/>
            </a:solidFill>
            <a:prstDash val="solid"/>
          </a:ln>
        </p:spPr>
      </p:sp>
      <p:sp>
        <p:nvSpPr>
          <p:cNvPr id="19" name="Text 17"/>
          <p:cNvSpPr txBox="1"/>
          <p:nvPr/>
        </p:nvSpPr>
        <p:spPr>
          <a:xfrm>
            <a:off x="548640" y="355701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0" name="Text 18"/>
          <p:cNvSpPr txBox="1"/>
          <p:nvPr/>
        </p:nvSpPr>
        <p:spPr>
          <a:xfrm>
            <a:off x="960120" y="3538728"/>
            <a:ext cx="4951476" cy="530352"/>
          </a:xfrm>
          <a:prstGeom prst="rect">
            <a:avLst/>
          </a:prstGeom>
          <a:noFill/>
          <a:ln/>
        </p:spPr>
        <p:txBody>
          <a:bodyPr wrap="square" lIns="0" tIns="0" rIns="0" bIns="0"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Avoids rework</a:t>
            </a:r>
            <a:pPr indent="0" marL="0">
              <a:buNone/>
            </a:pPr>
            <a:r>
              <a:rPr lang="en-US" sz="1300" dirty="0">
                <a:solidFill>
                  <a:srgbClr val="222222"/>
                </a:solidFill>
                <a:latin typeface="Calibri" pitchFamily="34" charset="0"/>
                <a:ea typeface="Calibri" pitchFamily="34" charset="-122"/>
                <a:cs typeface="Calibri" pitchFamily="34" charset="-120"/>
              </a:rPr>
              <a:t> across 232 publishers and 511 Data Lake–integrated events</a:t>
            </a:r>
            <a:endParaRPr lang="en-US" sz="1300" dirty="0"/>
          </a:p>
        </p:txBody>
      </p:sp>
      <p:sp>
        <p:nvSpPr>
          <p:cNvPr id="21" name="Shape 19"/>
          <p:cNvSpPr/>
          <p:nvPr/>
        </p:nvSpPr>
        <p:spPr>
          <a:xfrm>
            <a:off x="548640" y="4123944"/>
            <a:ext cx="274320" cy="274320"/>
          </a:xfrm>
          <a:prstGeom prst="ellipse">
            <a:avLst/>
          </a:prstGeom>
          <a:solidFill>
            <a:srgbClr val="1E5B2B"/>
          </a:solidFill>
          <a:ln w="12700">
            <a:solidFill>
              <a:srgbClr val="1E5B2B"/>
            </a:solidFill>
            <a:prstDash val="solid"/>
          </a:ln>
        </p:spPr>
      </p:sp>
      <p:sp>
        <p:nvSpPr>
          <p:cNvPr id="22" name="Text 20"/>
          <p:cNvSpPr txBox="1"/>
          <p:nvPr/>
        </p:nvSpPr>
        <p:spPr>
          <a:xfrm>
            <a:off x="548640" y="41239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3" name="Text 21"/>
          <p:cNvSpPr txBox="1"/>
          <p:nvPr/>
        </p:nvSpPr>
        <p:spPr>
          <a:xfrm>
            <a:off x="960120" y="4105656"/>
            <a:ext cx="4951476" cy="530352"/>
          </a:xfrm>
          <a:prstGeom prst="rect">
            <a:avLst/>
          </a:prstGeom>
          <a:noFill/>
          <a:ln/>
        </p:spPr>
        <p:txBody>
          <a:bodyPr wrap="square" lIns="0" tIns="0" rIns="0" bIns="0"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Long-term retention</a:t>
            </a:r>
            <a:pPr indent="0" marL="0">
              <a:buNone/>
            </a:pPr>
            <a:r>
              <a:rPr lang="en-US" sz="1300" dirty="0">
                <a:solidFill>
                  <a:srgbClr val="222222"/>
                </a:solidFill>
                <a:latin typeface="Calibri" pitchFamily="34" charset="0"/>
                <a:ea typeface="Calibri" pitchFamily="34" charset="-122"/>
                <a:cs typeface="Calibri" pitchFamily="34" charset="-120"/>
              </a:rPr>
              <a:t> beyond the 14-day Artemis window — 102 replays already served from S3</a:t>
            </a:r>
            <a:endParaRPr lang="en-US" sz="1300" dirty="0"/>
          </a:p>
        </p:txBody>
      </p:sp>
      <p:sp>
        <p:nvSpPr>
          <p:cNvPr id="24" name="Shape 22"/>
          <p:cNvSpPr/>
          <p:nvPr/>
        </p:nvSpPr>
        <p:spPr>
          <a:xfrm>
            <a:off x="548640" y="4690872"/>
            <a:ext cx="274320" cy="274320"/>
          </a:xfrm>
          <a:prstGeom prst="ellipse">
            <a:avLst/>
          </a:prstGeom>
          <a:solidFill>
            <a:srgbClr val="1E5B2B"/>
          </a:solidFill>
          <a:ln w="12700">
            <a:solidFill>
              <a:srgbClr val="1E5B2B"/>
            </a:solidFill>
            <a:prstDash val="solid"/>
          </a:ln>
        </p:spPr>
      </p:sp>
      <p:sp>
        <p:nvSpPr>
          <p:cNvPr id="25" name="Text 23"/>
          <p:cNvSpPr txBox="1"/>
          <p:nvPr/>
        </p:nvSpPr>
        <p:spPr>
          <a:xfrm>
            <a:off x="548640" y="46908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6" name="Text 24"/>
          <p:cNvSpPr txBox="1"/>
          <p:nvPr/>
        </p:nvSpPr>
        <p:spPr>
          <a:xfrm>
            <a:off x="960120" y="4672584"/>
            <a:ext cx="4951476" cy="530352"/>
          </a:xfrm>
          <a:prstGeom prst="rect">
            <a:avLst/>
          </a:prstGeom>
          <a:noFill/>
          <a:ln/>
        </p:spPr>
        <p:txBody>
          <a:bodyPr wrap="square" lIns="0" tIns="0" rIns="0" bIns="0"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Closes critical DEP capability gaps</a:t>
            </a:r>
            <a:pPr indent="0" marL="0">
              <a:buNone/>
            </a:pPr>
            <a:r>
              <a:rPr lang="en-US" sz="1300" dirty="0">
                <a:solidFill>
                  <a:srgbClr val="222222"/>
                </a:solidFill>
                <a:latin typeface="Calibri" pitchFamily="34" charset="0"/>
                <a:ea typeface="Calibri" pitchFamily="34" charset="-122"/>
                <a:cs typeface="Calibri" pitchFamily="34" charset="-120"/>
              </a:rPr>
              <a:t> (e.g. Claim Check for 26 large-payload events) for low-risk migration with minimal operational impact</a:t>
            </a:r>
            <a:endParaRPr lang="en-US" sz="1300" dirty="0"/>
          </a:p>
        </p:txBody>
      </p:sp>
      <p:sp>
        <p:nvSpPr>
          <p:cNvPr id="27" name="Text 25"/>
          <p:cNvSpPr txBox="1"/>
          <p:nvPr/>
        </p:nvSpPr>
        <p:spPr>
          <a:xfrm>
            <a:off x="6277356" y="3154680"/>
            <a:ext cx="5362956" cy="274320"/>
          </a:xfrm>
          <a:prstGeom prst="rect">
            <a:avLst/>
          </a:prstGeom>
          <a:noFill/>
          <a:ln/>
        </p:spPr>
        <p:txBody>
          <a:bodyPr wrap="square" lIns="0" tIns="0" rIns="0" bIns="0" rtlCol="0" anchor="ctr"/>
          <a:lstStyle/>
          <a:p>
            <a:pPr indent="0" marL="0">
              <a:buNone/>
            </a:pPr>
            <a:r>
              <a:rPr lang="en-US" sz="1100" b="1" spc="200" kern="0" dirty="0">
                <a:solidFill>
                  <a:srgbClr val="1E5B2B"/>
                </a:solidFill>
                <a:latin typeface="Calibri" pitchFamily="34" charset="0"/>
                <a:ea typeface="Calibri" pitchFamily="34" charset="-122"/>
                <a:cs typeface="Calibri" pitchFamily="34" charset="-120"/>
              </a:rPr>
              <a:t>OPERATING MODEL</a:t>
            </a:r>
            <a:endParaRPr lang="en-US" sz="1100" dirty="0"/>
          </a:p>
        </p:txBody>
      </p:sp>
      <p:sp>
        <p:nvSpPr>
          <p:cNvPr id="28" name="Shape 26"/>
          <p:cNvSpPr/>
          <p:nvPr/>
        </p:nvSpPr>
        <p:spPr>
          <a:xfrm>
            <a:off x="6277356" y="3557016"/>
            <a:ext cx="274320" cy="274320"/>
          </a:xfrm>
          <a:prstGeom prst="ellipse">
            <a:avLst/>
          </a:prstGeom>
          <a:solidFill>
            <a:srgbClr val="1E5B2B"/>
          </a:solidFill>
          <a:ln w="12700">
            <a:solidFill>
              <a:srgbClr val="1E5B2B"/>
            </a:solidFill>
            <a:prstDash val="solid"/>
          </a:ln>
        </p:spPr>
      </p:sp>
      <p:sp>
        <p:nvSpPr>
          <p:cNvPr id="29" name="Text 27"/>
          <p:cNvSpPr txBox="1"/>
          <p:nvPr/>
        </p:nvSpPr>
        <p:spPr>
          <a:xfrm>
            <a:off x="6277356" y="355701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0" name="Text 28"/>
          <p:cNvSpPr txBox="1"/>
          <p:nvPr/>
        </p:nvSpPr>
        <p:spPr>
          <a:xfrm>
            <a:off x="6688836" y="3538728"/>
            <a:ext cx="4951476" cy="388620"/>
          </a:xfrm>
          <a:prstGeom prst="rect">
            <a:avLst/>
          </a:prstGeom>
          <a:noFill/>
          <a:ln/>
        </p:spPr>
        <p:txBody>
          <a:bodyPr wrap="square" lIns="0" tIns="0" rIns="0" bIns="0"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One owning team</a:t>
            </a:r>
            <a:pPr indent="0" marL="0">
              <a:buNone/>
            </a:pPr>
            <a:r>
              <a:rPr lang="en-US" sz="1300" dirty="0">
                <a:solidFill>
                  <a:srgbClr val="222222"/>
                </a:solidFill>
                <a:latin typeface="Calibri" pitchFamily="34" charset="0"/>
                <a:ea typeface="Calibri" pitchFamily="34" charset="-122"/>
                <a:cs typeface="Calibri" pitchFamily="34" charset="-120"/>
              </a:rPr>
              <a:t> reduces duplication and maintenance overhead</a:t>
            </a:r>
            <a:endParaRPr lang="en-US" sz="1300" dirty="0"/>
          </a:p>
        </p:txBody>
      </p:sp>
      <p:sp>
        <p:nvSpPr>
          <p:cNvPr id="31" name="Shape 29"/>
          <p:cNvSpPr/>
          <p:nvPr/>
        </p:nvSpPr>
        <p:spPr>
          <a:xfrm>
            <a:off x="6277356" y="3982212"/>
            <a:ext cx="274320" cy="274320"/>
          </a:xfrm>
          <a:prstGeom prst="ellipse">
            <a:avLst/>
          </a:prstGeom>
          <a:solidFill>
            <a:srgbClr val="1E5B2B"/>
          </a:solidFill>
          <a:ln w="12700">
            <a:solidFill>
              <a:srgbClr val="1E5B2B"/>
            </a:solidFill>
            <a:prstDash val="solid"/>
          </a:ln>
        </p:spPr>
      </p:sp>
      <p:sp>
        <p:nvSpPr>
          <p:cNvPr id="32" name="Text 30"/>
          <p:cNvSpPr txBox="1"/>
          <p:nvPr/>
        </p:nvSpPr>
        <p:spPr>
          <a:xfrm>
            <a:off x="6277356" y="39822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3" name="Text 31"/>
          <p:cNvSpPr txBox="1"/>
          <p:nvPr/>
        </p:nvSpPr>
        <p:spPr>
          <a:xfrm>
            <a:off x="6688836" y="3963924"/>
            <a:ext cx="4951476" cy="388620"/>
          </a:xfrm>
          <a:prstGeom prst="rect">
            <a:avLst/>
          </a:prstGeom>
          <a:noFill/>
          <a:ln/>
        </p:spPr>
        <p:txBody>
          <a:bodyPr wrap="square" lIns="0" tIns="0" rIns="0" bIns="0"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Central access control,</a:t>
            </a:r>
            <a:pPr indent="0" marL="0">
              <a:buNone/>
            </a:pPr>
            <a:r>
              <a:rPr lang="en-US" sz="1300" dirty="0">
                <a:solidFill>
                  <a:srgbClr val="222222"/>
                </a:solidFill>
                <a:latin typeface="Calibri" pitchFamily="34" charset="0"/>
                <a:ea typeface="Calibri" pitchFamily="34" charset="-122"/>
                <a:cs typeface="Calibri" pitchFamily="34" charset="-120"/>
              </a:rPr>
              <a:t> security and retention policy</a:t>
            </a:r>
            <a:endParaRPr lang="en-US" sz="1300" dirty="0"/>
          </a:p>
        </p:txBody>
      </p:sp>
      <p:sp>
        <p:nvSpPr>
          <p:cNvPr id="34" name="Shape 32"/>
          <p:cNvSpPr/>
          <p:nvPr/>
        </p:nvSpPr>
        <p:spPr>
          <a:xfrm>
            <a:off x="6277356" y="4407408"/>
            <a:ext cx="274320" cy="274320"/>
          </a:xfrm>
          <a:prstGeom prst="ellipse">
            <a:avLst/>
          </a:prstGeom>
          <a:solidFill>
            <a:srgbClr val="1E5B2B"/>
          </a:solidFill>
          <a:ln w="12700">
            <a:solidFill>
              <a:srgbClr val="1E5B2B"/>
            </a:solidFill>
            <a:prstDash val="solid"/>
          </a:ln>
        </p:spPr>
      </p:sp>
      <p:sp>
        <p:nvSpPr>
          <p:cNvPr id="35" name="Text 33"/>
          <p:cNvSpPr txBox="1"/>
          <p:nvPr/>
        </p:nvSpPr>
        <p:spPr>
          <a:xfrm>
            <a:off x="6277356"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6" name="Text 34"/>
          <p:cNvSpPr txBox="1"/>
          <p:nvPr/>
        </p:nvSpPr>
        <p:spPr>
          <a:xfrm>
            <a:off x="6688836" y="4389120"/>
            <a:ext cx="4951476" cy="388620"/>
          </a:xfrm>
          <a:prstGeom prst="rect">
            <a:avLst/>
          </a:prstGeom>
          <a:noFill/>
          <a:ln/>
        </p:spPr>
        <p:txBody>
          <a:bodyPr wrap="square" lIns="0" tIns="0" rIns="0" bIns="0"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Clear accountability</a:t>
            </a:r>
            <a:pPr indent="0" marL="0">
              <a:buNone/>
            </a:pPr>
            <a:r>
              <a:rPr lang="en-US" sz="1300" dirty="0">
                <a:solidFill>
                  <a:srgbClr val="222222"/>
                </a:solidFill>
                <a:latin typeface="Calibri" pitchFamily="34" charset="0"/>
                <a:ea typeface="Calibri" pitchFamily="34" charset="-122"/>
                <a:cs typeface="Calibri" pitchFamily="34" charset="-120"/>
              </a:rPr>
              <a:t> instead of fragmented ownership</a:t>
            </a:r>
            <a:endParaRPr lang="en-US" sz="1300" dirty="0"/>
          </a:p>
        </p:txBody>
      </p:sp>
      <p:sp>
        <p:nvSpPr>
          <p:cNvPr id="37" name="Shape 35"/>
          <p:cNvSpPr/>
          <p:nvPr/>
        </p:nvSpPr>
        <p:spPr>
          <a:xfrm>
            <a:off x="6277356" y="4832604"/>
            <a:ext cx="274320" cy="274320"/>
          </a:xfrm>
          <a:prstGeom prst="ellipse">
            <a:avLst/>
          </a:prstGeom>
          <a:solidFill>
            <a:srgbClr val="1E5B2B"/>
          </a:solidFill>
          <a:ln w="12700">
            <a:solidFill>
              <a:srgbClr val="1E5B2B"/>
            </a:solidFill>
            <a:prstDash val="solid"/>
          </a:ln>
        </p:spPr>
      </p:sp>
      <p:sp>
        <p:nvSpPr>
          <p:cNvPr id="38" name="Text 36"/>
          <p:cNvSpPr txBox="1"/>
          <p:nvPr/>
        </p:nvSpPr>
        <p:spPr>
          <a:xfrm>
            <a:off x="6277356" y="48326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9" name="Text 37"/>
          <p:cNvSpPr txBox="1"/>
          <p:nvPr/>
        </p:nvSpPr>
        <p:spPr>
          <a:xfrm>
            <a:off x="6688836" y="4814316"/>
            <a:ext cx="4951476" cy="388620"/>
          </a:xfrm>
          <a:prstGeom prst="rect">
            <a:avLst/>
          </a:prstGeom>
          <a:noFill/>
          <a:ln/>
        </p:spPr>
        <p:txBody>
          <a:bodyPr wrap="square" lIns="0" tIns="0" rIns="0" bIns="0"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Proactive issue detection</a:t>
            </a:r>
            <a:pPr indent="0" marL="0">
              <a:buNone/>
            </a:pPr>
            <a:r>
              <a:rPr lang="en-US" sz="1300" dirty="0">
                <a:solidFill>
                  <a:srgbClr val="222222"/>
                </a:solidFill>
                <a:latin typeface="Calibri" pitchFamily="34" charset="0"/>
                <a:ea typeface="Calibri" pitchFamily="34" charset="-122"/>
                <a:cs typeface="Calibri" pitchFamily="34" charset="-120"/>
              </a:rPr>
              <a:t> rather than per-team recovery</a:t>
            </a:r>
            <a:endParaRPr lang="en-US" sz="1300" dirty="0"/>
          </a:p>
        </p:txBody>
      </p:sp>
      <p:sp>
        <p:nvSpPr>
          <p:cNvPr id="40" name="Shape 38"/>
          <p:cNvSpPr/>
          <p:nvPr/>
        </p:nvSpPr>
        <p:spPr>
          <a:xfrm>
            <a:off x="548640" y="5303520"/>
            <a:ext cx="11091672" cy="1051560"/>
          </a:xfrm>
          <a:prstGeom prst="roundRect">
            <a:avLst>
              <a:gd name="adj" fmla="val 5217"/>
            </a:avLst>
          </a:prstGeom>
          <a:solidFill>
            <a:srgbClr val="F7F9F7"/>
          </a:solidFill>
          <a:ln w="9525">
            <a:solidFill>
              <a:srgbClr val="B9CDBE"/>
            </a:solidFill>
            <a:prstDash val="solid"/>
          </a:ln>
        </p:spPr>
      </p:sp>
      <p:sp>
        <p:nvSpPr>
          <p:cNvPr id="41" name="Text 39"/>
          <p:cNvSpPr txBox="1"/>
          <p:nvPr/>
        </p:nvSpPr>
        <p:spPr>
          <a:xfrm>
            <a:off x="777240" y="5413248"/>
            <a:ext cx="4572000" cy="228600"/>
          </a:xfrm>
          <a:prstGeom prst="rect">
            <a:avLst/>
          </a:prstGeom>
          <a:noFill/>
          <a:ln/>
        </p:spPr>
        <p:txBody>
          <a:bodyPr wrap="square" lIns="0" tIns="0" rIns="0" bIns="0" rtlCol="0" anchor="ctr"/>
          <a:lstStyle/>
          <a:p>
            <a:pPr indent="0" marL="0">
              <a:buNone/>
            </a:pPr>
            <a:r>
              <a:rPr lang="en-US" sz="1000" b="1" spc="200" kern="0" dirty="0">
                <a:solidFill>
                  <a:srgbClr val="1E5B2B"/>
                </a:solidFill>
                <a:latin typeface="Calibri" pitchFamily="34" charset="0"/>
                <a:ea typeface="Calibri" pitchFamily="34" charset="-122"/>
                <a:cs typeface="Calibri" pitchFamily="34" charset="-120"/>
              </a:rPr>
              <a:t>LEADERSHIP TAKEAWAY</a:t>
            </a:r>
            <a:endParaRPr lang="en-US" sz="1000" dirty="0"/>
          </a:p>
        </p:txBody>
      </p:sp>
      <p:sp>
        <p:nvSpPr>
          <p:cNvPr id="42" name="Text 40"/>
          <p:cNvSpPr txBox="1"/>
          <p:nvPr/>
        </p:nvSpPr>
        <p:spPr>
          <a:xfrm>
            <a:off x="777240" y="5669280"/>
            <a:ext cx="10634472" cy="594360"/>
          </a:xfrm>
          <a:prstGeom prst="rect">
            <a:avLst/>
          </a:prstGeom>
          <a:noFill/>
          <a:ln/>
        </p:spPr>
        <p:txBody>
          <a:bodyPr wrap="square" lIns="0" tIns="0" rIns="0" bIns="0" rtlCol="0" anchor="t"/>
          <a:lstStyle/>
          <a:p>
            <a:pPr indent="0" marL="0">
              <a:buNone/>
            </a:pPr>
            <a:r>
              <a:rPr lang="en-US" sz="1150" i="1" dirty="0">
                <a:solidFill>
                  <a:srgbClr val="222222"/>
                </a:solidFill>
                <a:latin typeface="Calibri" pitchFamily="34" charset="0"/>
                <a:ea typeface="Calibri" pitchFamily="34" charset="-122"/>
                <a:cs typeface="Calibri" pitchFamily="34" charset="-120"/>
              </a:rPr>
              <a:t>The recommended approach builds on capabilities already proven in Brokerage rather than rebuilding them team by team. With 232 publishers and 511 Data Lake–integrated events in PROD, publishers keep their existing integration patterns while S3 covers long-term retention and compliance (102 replays already beyond the 14-day window). A BU Common team turns these decisions into a governed, SLA-backed platform capability; otherwise the same work is duplicated across feature teams without clear ownership.</a:t>
            </a:r>
            <a:endParaRPr lang="en-US" sz="1150" dirty="0"/>
          </a:p>
        </p:txBody>
      </p:sp>
      <p:sp>
        <p:nvSpPr>
          <p:cNvPr id="43" name="Text 41"/>
          <p:cNvSpPr txBox="1"/>
          <p:nvPr/>
        </p:nvSpPr>
        <p:spPr>
          <a:xfrm>
            <a:off x="548640" y="6473952"/>
            <a:ext cx="3657600" cy="228600"/>
          </a:xfrm>
          <a:prstGeom prst="rect">
            <a:avLst/>
          </a:prstGeom>
          <a:noFill/>
          <a:ln/>
        </p:spPr>
        <p:txBody>
          <a:bodyPr wrap="square" lIns="0" tIns="0" rIns="0" bIns="0" rtlCol="0" anchor="ctr"/>
          <a:lstStyle/>
          <a:p>
            <a:pPr indent="0" marL="0">
              <a:buNone/>
            </a:pPr>
            <a:r>
              <a:rPr lang="en-US" sz="900" dirty="0">
                <a:solidFill>
                  <a:srgbClr val="5F6B62"/>
                </a:solidFill>
                <a:latin typeface="Calibri" pitchFamily="34" charset="0"/>
                <a:ea typeface="Calibri" pitchFamily="34" charset="-122"/>
                <a:cs typeface="Calibri" pitchFamily="34" charset="-120"/>
              </a:rPr>
              <a:t>Fidelity Internal Information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2026-09-30T21:02:16Z</dcterms:created>
  <dcterms:modified xsi:type="dcterms:W3CDTF">2026-09-30T21:02:16Z</dcterms:modified>
</cp:coreProperties>
</file>